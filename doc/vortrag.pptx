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_rels/presentation.xml.rels" ContentType="application/vnd.openxmlformats-package.relationships+xml"/>
  <Override PartName="/ppt/media/image12.svg" ContentType="image/svg"/>
  <Override PartName="/ppt/media/image11.png" ContentType="image/png"/>
  <Override PartName="/ppt/media/image2.png" ContentType="image/png"/>
  <Override PartName="/ppt/media/image13.png" ContentType="image/png"/>
  <Override PartName="/ppt/media/image10.svg" ContentType="image/svg"/>
  <Override PartName="/ppt/media/image9.png" ContentType="image/png"/>
  <Override PartName="/ppt/media/image18.png" ContentType="image/png"/>
  <Override PartName="/ppt/media/image20.png" ContentType="image/png"/>
  <Override PartName="/ppt/media/image8.png" ContentType="image/png"/>
  <Override PartName="/ppt/media/image17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4.wmf" ContentType="image/x-wmf"/>
  <Override PartName="/ppt/media/image5.png" ContentType="image/png"/>
  <Override PartName="/ppt/media/image21.png" ContentType="image/png"/>
  <Override PartName="/ppt/media/image19.png" ContentType="image/png"/>
  <Override PartName="/ppt/media/image7.svg" ContentType="image/svg"/>
  <Override PartName="/ppt/media/image16.svg" ContentType="image/svg"/>
  <Override PartName="/ppt/media/image14.svg" ContentType="image/svg"/>
  <Override PartName="/ppt/media/image1.png" ContentType="image/png"/>
  <Override PartName="/ppt/media/image3.png" ContentType="image/png"/>
  <Override PartName="/ppt/media/image6.png" ContentType="image/png"/>
  <Override PartName="/ppt/media/image1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Folie mittels Klicken verschieben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dt" idx="2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ftr" idx="2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 type="sldNum" idx="2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0536BF8-F88E-4BFE-8637-3C3F06385855}" type="slidenum"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3680" cy="400536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040" cy="48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Ich arbeite erst seit Anfang letzten Jahr an der Uni-Bibliothek in FFM → viele bibliothekarische Begriffe und Themen noch neu sind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Stelle einen experimentellen Workflow vor, wie Personen auf GND-Normdaten verlinkt werden können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Technisch verantwortlich von Suchportal FID DK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u.a. spezialisiertes Suchportal der Darstellenden Künste (Theater, Tanz, etc.)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240" cy="4003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600" cy="480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Eine meiner Aufgaben ist das automatisierte Mapping von Metadaten auf unser Datenmodell und der Import in das Suchportal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Oft das Problem, das in Metadaten nur Personennamen referenziert sind (A, B → Beethoven)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Namen alleine für Suchsysteme nicht eindeutig genug z.B. Titel X von Beethoven, welcher Beethoven? Kontext? GND-ID?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Ausgangsproblem: Unser FID-Suchportal braucht Normdaten, idealerweise GND-ID, um eine Person eindeutig referenzieren zu können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Dadurch können dann verschiedene Datensätze im Suchportal verknüpft werden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Kategorien: 1. nur Name, 2. Name + Kontext, 3. Name + Identifier z.B. GND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Wenn Name + Kontext, wie GND-ID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Lobid: Namenssuche mit mehreren Treffern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Reines Namensmatching unzureichend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→es braucht mindestens Kontext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Personendaten heterogen: Schreibweisen, Kontext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Kann ein Large Language Model den richtigen Treffer bestimmen? → nächste Folie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Ziel: automatisiert Personen mit GND verknüpfen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Namen und Kontext aus Datensatz extrahieren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Namen bei Lobid über API suchen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Liste von Treffern LLM zur Verfügung stellen, mit Kontext vergleichen und entscheiden lassen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LLM können viel erzählen, wenn der Tag lang ist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Wie lässt sich LLM-Entscheidung überprüfen? → nächste Folie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Ich brauche einen Testdatensatz zur Evaluation!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Ein Teil meines Datensatzes hat WorldCat-Entity-IDs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Königsweg wäre direkt von oclc die gnd-Id zu bekommen → Keine OCLC-Meridian-Subscription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Alternative: Wikidata-Einträge besitzen zum Teil WorldCat-Entity-ID und GND-ID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Skript crawlt WorldCat-Ids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Wörterbuch WorldCat-Entity-ID → GND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Ich kann Workflow testen: Eingabe: Person und Kontext → LLM entscheidet → Überprüfung mit „Wörterbuch“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Der Testdatensatz ist kein perfekter Goldstandard, aber ein praktikabler Referenzdatensatz zur quantitativen Evaluation.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Praktische Realisierung Authority Linker: Kommandozeilentool und Funktionssammlung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Personendaten mit u.a. Name, Lebensdaten, Beruf, Titeldaten, Titeljahr, Systemmatik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Suche Person bei Lobid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Regelbasierte Bewertung: Schreibweisen des Namens, Lebensdaten, Tätigkeitsbereich, Systematik stimmig? = Score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Grenzwertig? Höhe Score? Score Zweitplatzierter?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Unklare Fälle: LLM bekommt Top-3 Kandidaten, LLM darf auswählen oder ablehnen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AutoNum type="arabicParenR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Guardrails: Nach LLM-Entscheidung nochmals regelbasierte Prüfung (stimmen Kontextdaten wirklich)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3320" cy="400500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680" cy="480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LLM kann Kontext besser erkennen und einordnen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Regelbasiert nicht gefunden: zu wenig Kontext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LLM: 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Ca. 91% der GND-IDs konnten korrekt gefunden werden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3/4 regelbasiert, 1/4 LLM-gestützt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960" cy="400464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320" cy="480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Vergleich Parameter: rechts Datensatz, der in WD verlinkt, LLM hat linken Datensatz gewählt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Links gewählt, weil Lebensdaten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Testdatensatz korrekt?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Evaluation gegen Wikidata/GND-Referenzdaten misst nicht nur Modellfehler, sondern auch Datenqualitäts- und Dublettenprobleme.“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120" cy="400680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Gesucht war Andreas Schmidt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LLM wurden diese 3 Kandidaten vorgelegt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alle abgelehnt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Andreas Schmidt Allerweltsname → Lange Liste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Richtiger Kandidat wurde vom Scoring durch die Top-3 abgeschnitten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960" cy="400464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320" cy="480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Personenkontext ohne Lebensdaten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Nicht der erste Treffer ist der beste Treffer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→ Stärke vom LLM ist die Erkennung „(Baritone),“ = Bariton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4760" cy="400644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OCLC → GND?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Person + Kontext von WorldCat → Authority Linker → GND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Warum nicht nur Wikidata als Mapping-Brücke nutzen?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Antwort: Weil Wikidata nicht vollständig ist, P10832/P227 nicht überall vorhanden sind und du auch produktiv Datensätze ohne vorhandene Referenzverknüpfung bearbeiten willst.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Wie reproduzierbar ist das LLM-Ergebnis?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Antwort: Nur in den Borderline-Fällen eingesetzt; regelbasierte Scores und Debugfelder bleiben nachvollziehbar; LLM-Ausgabe ist auf accept_best, choose_alternative, reject_all begrenzt.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C3DD8080-3A2B-40F5-B3A4-1F44AB9872B3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688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</a:t>
            </a: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Titeltextes durch </a:t>
            </a: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Klicken bearbeiten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C9AEAB-70FD-45D9-B976-4BE4734A4DAF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7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AF7F7261-4252-4609-82EA-115E1E514D8F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sldNum" idx="2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CD8D01-A436-415F-A12C-F0ABD35626E3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</a:t>
            </a: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</a:t>
            </a: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Gliederungstextes durch </a:t>
            </a: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</a:t>
            </a: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</a:t>
            </a: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Rectangle 1"/>
          <p:cNvSpPr/>
          <p:nvPr/>
        </p:nvSpPr>
        <p:spPr>
          <a:xfrm>
            <a:off x="1063800" y="6676920"/>
            <a:ext cx="2895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 © 2026 Jan Smendek, CC BY 4.0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434C5E-3674-4EFA-893F-D6B304A08C5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23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1D056F2D-F05E-43C7-B2DE-89DEEA8F1DE0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ftr" idx="4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5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9E7F8C-9DEA-4A3F-A37B-DAC5A6DE68A8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1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30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183B2940-F40D-46CB-9B63-0A1D7423E40B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ftr" idx="6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7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177986-4CAE-4252-B500-6DC851F4C63E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37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CB35735A-6F78-407D-A232-3BCB6FEC4377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ftr" idx="8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9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FD941F-5A5B-4757-BAE6-B19533D76369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Rectangle 1"/>
          <p:cNvSpPr/>
          <p:nvPr/>
        </p:nvSpPr>
        <p:spPr>
          <a:xfrm>
            <a:off x="1063800" y="6676920"/>
            <a:ext cx="2895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 © 2026 Jan Smendek, CC BY 4.0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45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1867B07D-B0B8-4568-8E38-BF1FBD0312FE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ftr" idx="10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11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3E22B6-D35E-4DB6-9521-A819D5CAF529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1"/>
          <p:cNvSpPr/>
          <p:nvPr/>
        </p:nvSpPr>
        <p:spPr>
          <a:xfrm>
            <a:off x="1063800" y="6676920"/>
            <a:ext cx="2895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 © 2026 Jan Smendek, CC BY 4.0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45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A40703DB-4977-4B79-97BE-506B74A85E90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ftr" idx="12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13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752224-A365-4560-88E8-FCDFA1068317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1"/>
          <p:cNvSpPr/>
          <p:nvPr/>
        </p:nvSpPr>
        <p:spPr>
          <a:xfrm>
            <a:off x="1063800" y="6676920"/>
            <a:ext cx="2895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 © 2026 Jan Smendek, CC BY 4.0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58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207151CD-84E4-4D27-9D5B-A0090A3B939E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69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14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15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4837F6-B4DF-40C6-A879-F41DE1B1A9B9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64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FD1372F2-716D-4CC2-BCDB-50513F92A50B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ftr" idx="16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ldNum" idx="17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9AF8F4-C400-4E7F-B219-C24464D6631F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71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AE0F6BCD-7DBD-4E85-AFAA-122DE8734C03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ftr" idx="18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19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407308-0D74-48F8-8DE1-BA06702DCE41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78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E4034688-572E-4C4E-A9FE-1237FC63F23A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ftr" idx="20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21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39460B-05E8-44CA-85F7-2B146335F21A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85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4BA1DB61-1CE0-443D-B8E5-16C9C194D4A3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ftr" idx="22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23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E8C36E-BD2A-4D0E-951D-0866DBD75041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1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92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244A1FCB-731D-40C3-9BF9-5788E0296EEA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ftr" idx="24"/>
          </p:nvPr>
        </p:nvSpPr>
        <p:spPr>
          <a:xfrm>
            <a:off x="1163520" y="6633360"/>
            <a:ext cx="985896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25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2BAE49-8BBA-4D7B-AD85-921C6A42D8CF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6" descr=""/>
          <p:cNvPicPr/>
          <p:nvPr/>
        </p:nvPicPr>
        <p:blipFill>
          <a:blip r:embed="rId3"/>
          <a:srcRect l="0" t="58753" r="0" b="0"/>
          <a:stretch/>
        </p:blipFill>
        <p:spPr>
          <a:xfrm>
            <a:off x="154440" y="368640"/>
            <a:ext cx="1002960" cy="3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Rectangle 3"/>
          <p:cNvSpPr/>
          <p:nvPr/>
        </p:nvSpPr>
        <p:spPr>
          <a:xfrm>
            <a:off x="4383720" y="3334680"/>
            <a:ext cx="8532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500" strike="noStrike" u="none">
              <a:solidFill>
                <a:srgbClr val="004f8f"/>
              </a:solidFill>
              <a:effectLst/>
              <a:uFillTx/>
              <a:latin typeface="Calibri Light"/>
              <a:ea typeface="Georgia"/>
            </a:endParaRPr>
          </a:p>
        </p:txBody>
      </p:sp>
      <p:sp>
        <p:nvSpPr>
          <p:cNvPr id="14" name="Rectangle 1"/>
          <p:cNvSpPr/>
          <p:nvPr/>
        </p:nvSpPr>
        <p:spPr>
          <a:xfrm>
            <a:off x="186120" y="6676920"/>
            <a:ext cx="64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fld id="{FE704857-6CF3-47FB-A753-464924E88FC0}" type="datetime3"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22. Mai 2026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1"/>
          <p:cNvSpPr/>
          <p:nvPr/>
        </p:nvSpPr>
        <p:spPr>
          <a:xfrm>
            <a:off x="1063800" y="6676920"/>
            <a:ext cx="2895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de-DE" sz="9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Georgia"/>
              </a:rPr>
              <a:t> © 2026 Jan Smendek, CC BY 4.0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707040"/>
            <a:ext cx="10969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3"/>
          </p:nvPr>
        </p:nvSpPr>
        <p:spPr>
          <a:xfrm>
            <a:off x="11088000" y="6633360"/>
            <a:ext cx="911880" cy="16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9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Georgi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3783C5-FCAF-439B-8C23-F4D7E8FB892C}" type="slidenum">
              <a:rPr b="0" lang="de-DE" sz="9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Georgia"/>
              </a:rPr>
              <a:t>&lt;Foliennummer&gt;</a:t>
            </a:fld>
            <a:endParaRPr b="0" lang="de-DE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wmf"/><Relationship Id="rId3" Type="http://schemas.openxmlformats.org/officeDocument/2006/relationships/image" Target="../media/image4.wmf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sv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99520" y="1080000"/>
            <a:ext cx="9859320" cy="24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4f8f"/>
                </a:solidFill>
                <a:effectLst/>
                <a:uFillTx/>
                <a:latin typeface="Meridien Roman"/>
              </a:rPr>
              <a:t>LLM-basierte Linking-Strategien </a:t>
            </a:r>
            <a:br>
              <a:rPr sz="4400"/>
            </a:br>
            <a:r>
              <a:rPr b="0" lang="de-DE" sz="2400" strike="noStrike" u="none">
                <a:solidFill>
                  <a:srgbClr val="004f8f"/>
                </a:solidFill>
                <a:effectLst/>
                <a:uFillTx/>
                <a:latin typeface="Meridien Roman"/>
              </a:rPr>
              <a:t>(u.a. zwischen OCLC und GND)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199520" y="4473000"/>
            <a:ext cx="9859320" cy="165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br>
              <a:rPr sz="1800"/>
            </a:br>
            <a:br>
              <a:rPr sz="1800"/>
            </a:b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Jan Smendek · Universitätsbibliothek Johann Christian Senckenberg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0"/>
            <a:ext cx="360" cy="3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5040000" y="3060000"/>
            <a:ext cx="5546160" cy="110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6400440" y="4320000"/>
            <a:ext cx="3138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Meridien Roman"/>
                <a:ea typeface="DejaVu Sans"/>
              </a:rPr>
              <a:t>http://performing-arts.eu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7740000" y="5400000"/>
            <a:ext cx="3234600" cy="69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3"/>
          <a:stretch/>
        </p:blipFill>
        <p:spPr>
          <a:xfrm>
            <a:off x="7739280" y="4860000"/>
            <a:ext cx="3235320" cy="69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4"/>
          <a:stretch/>
        </p:blipFill>
        <p:spPr>
          <a:xfrm>
            <a:off x="8100000" y="4825800"/>
            <a:ext cx="3218760" cy="67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1080000" y="3060000"/>
            <a:ext cx="3597480" cy="16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114. BiblioCon 2026 – Analog trifft Algorithmus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21.05.2026, 9:00 Uhr, Raum V/5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379520" y="296640"/>
            <a:ext cx="899856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200" strike="noStrike" u="none">
                <a:solidFill>
                  <a:schemeClr val="dk1"/>
                </a:solidFill>
                <a:effectLst/>
                <a:uFillTx/>
                <a:latin typeface="Meridien Roman"/>
              </a:rPr>
              <a:t>Das Ausgangsproblem: Personen eindeutig identifizieren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3" name=""/>
          <p:cNvGraphicFramePr/>
          <p:nvPr/>
        </p:nvGraphicFramePr>
        <p:xfrm>
          <a:off x="1013400" y="4178520"/>
          <a:ext cx="10182960" cy="2041560"/>
        </p:xfrm>
        <a:graphic>
          <a:graphicData uri="http://schemas.openxmlformats.org/drawingml/2006/table">
            <a:tbl>
              <a:tblPr/>
              <a:tblGrid>
                <a:gridCol w="2282040"/>
                <a:gridCol w="3802680"/>
                <a:gridCol w="4098600"/>
              </a:tblGrid>
              <a:tr h="4575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de-DE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Person</a:t>
                      </a:r>
                      <a:endParaRPr b="0" lang="de-DE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de-DE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Kontext</a:t>
                      </a:r>
                      <a:endParaRPr b="0" lang="de-DE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de-DE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Gesuchte Verknüpfung</a:t>
                      </a:r>
                      <a:endParaRPr b="0" lang="de-DE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8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de-DE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Ludwig van Beethoven</a:t>
                      </a:r>
                      <a:endParaRPr b="0" lang="de-DE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de-DE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1770-1827</a:t>
                      </a:r>
                      <a:endParaRPr b="0" lang="de-DE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de-DE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https://d-nb.info/gnd/118508288</a:t>
                      </a:r>
                      <a:endParaRPr b="0" lang="de-DE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125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de-DE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Ludwig van Beethoven</a:t>
                      </a:r>
                      <a:endParaRPr b="0" lang="de-DE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de-DE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1712-1773, Musiker, Kapellmeister</a:t>
                      </a:r>
                      <a:endParaRPr b="0" lang="de-DE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de-DE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https://d-nb.info/gnd/135916488</a:t>
                      </a:r>
                      <a:endParaRPr b="0" lang="de-DE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4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00000" y="130320"/>
            <a:ext cx="8579160" cy="4007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900000" y="1202760"/>
            <a:ext cx="10457640" cy="527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4"/>
          <p:cNvSpPr/>
          <p:nvPr/>
        </p:nvSpPr>
        <p:spPr>
          <a:xfrm>
            <a:off x="1379520" y="297000"/>
            <a:ext cx="899856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de-DE" sz="22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DejaVu Sans"/>
              </a:rPr>
              <a:t>Suche nach Personen in lobid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192000" y="1202760"/>
            <a:ext cx="5060520" cy="12229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t">
            <a:spAutoFit/>
          </a:bodyPr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{"a": "Furtwängler, Wilhelm,"},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{"d": "1886-1954,"},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{"e": "conductor,"},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{"e": "interviewee."},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900000" y="5332680"/>
            <a:ext cx="875808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de-DE" sz="2600" strike="noStrike" u="none">
                <a:solidFill>
                  <a:srgbClr val="000000"/>
                </a:solidFill>
                <a:effectLst/>
                <a:uFillTx/>
                <a:latin typeface="Meridien Roman"/>
                <a:ea typeface="DejaVu Sans"/>
              </a:rPr>
              <a:t>Probleme</a:t>
            </a:r>
            <a:r>
              <a:rPr b="0" lang="de-DE" sz="2600" strike="noStrike" u="none">
                <a:solidFill>
                  <a:srgbClr val="000000"/>
                </a:solidFill>
                <a:effectLst/>
                <a:uFillTx/>
                <a:latin typeface="Meridien Roman"/>
                <a:ea typeface="DejaVu Sans"/>
              </a:rPr>
              <a:t>: Mehrdeutigkeiten, LLM Halluzination, Überprüfbarkeit, Reproduzierbarkeit</a:t>
            </a:r>
            <a:endParaRPr b="0" lang="de-D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/>
          <p:nvPr/>
        </p:nvSpPr>
        <p:spPr>
          <a:xfrm>
            <a:off x="1379880" y="296640"/>
            <a:ext cx="899856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de-DE" sz="22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DejaVu Sans"/>
              </a:rPr>
              <a:t>Ausgangsidee: LLM entscheidet richtigen GND-Eintrag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80000" y="1368000"/>
            <a:ext cx="8046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Furtwängler, Wilhelm, 1886-1954, Dirigent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9640" y="1999440"/>
            <a:ext cx="12188880" cy="317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379520" y="296640"/>
            <a:ext cx="899856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200" strike="noStrike" u="none">
                <a:solidFill>
                  <a:schemeClr val="dk1"/>
                </a:solidFill>
                <a:effectLst/>
                <a:uFillTx/>
                <a:latin typeface="Meridien Roman"/>
              </a:rPr>
              <a:t>Wie lässt sich die LLM-Entscheidung überprüfen?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252000" y="4102200"/>
            <a:ext cx="1162440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[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"https://id.oclc.org/worldcat/entity/E39PBJgHdJ667fdPh4D73V3vpP": "https://d-nb.info/gnd/1193183499",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...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]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(1058 Referenzfälle für die Evaluation)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  <a:ea typeface="Noto Sans CJK SC"/>
              </a:rPr>
              <a:t>→ Mit den Testdaten ist eine Überprüfung der Ergebnisse möglich.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-131760" y="836640"/>
            <a:ext cx="12188520" cy="366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379520" y="296640"/>
            <a:ext cx="899856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600" strike="noStrike" u="none">
                <a:solidFill>
                  <a:schemeClr val="dk1"/>
                </a:solidFill>
                <a:effectLst/>
                <a:uFillTx/>
                <a:latin typeface="Meridien Roman"/>
              </a:rPr>
              <a:t>Authority-Linker im Überblick</a:t>
            </a:r>
            <a:endParaRPr b="0" lang="de-D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432000" y="3636000"/>
            <a:ext cx="4856760" cy="21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Standard: Regelbasierte Prüfung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Bei Unsicherheiten → LLM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→ schnellere Abarbeitung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→ Kostenreduktion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760000" y="5220000"/>
            <a:ext cx="18424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(Mistral Large 3)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6000" y="900000"/>
            <a:ext cx="12189240" cy="474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379520" y="296640"/>
            <a:ext cx="899856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200" strike="noStrike" u="none">
                <a:solidFill>
                  <a:schemeClr val="dk1"/>
                </a:solidFill>
                <a:effectLst/>
                <a:uFillTx/>
                <a:latin typeface="Meridien Roman"/>
              </a:rPr>
              <a:t>Ergebnisse mit Testdaten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-135360" y="532800"/>
            <a:ext cx="12188520" cy="660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1410840" y="1980000"/>
            <a:ext cx="27234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{"a": "Koelman, Rudolf,"},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{"d": "1959-"},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{"e": "instrumentalist,"},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{"e": "instructor."},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5220000" y="1506600"/>
            <a:ext cx="6032880" cy="352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1209960" y="4140000"/>
            <a:ext cx="5804280" cy="179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itel 2"/>
          <p:cNvSpPr/>
          <p:nvPr/>
        </p:nvSpPr>
        <p:spPr>
          <a:xfrm>
            <a:off x="1379520" y="297000"/>
            <a:ext cx="899856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de-DE" sz="22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DejaVu Sans"/>
              </a:rPr>
              <a:t>Fallbeispiel: LLM lag falsch(?)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4774680" y="5951520"/>
            <a:ext cx="725652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LLM: Beste Übereinstimmung basierend auf Name, Geburtsjahr und Hinweisen aus Personenangaben.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056000" y="4860000"/>
            <a:ext cx="3420000" cy="31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Screenshots: DNB-Portal, GND-Daten unter CC0 1.0, abgerufen am 15.05.2026.</a:t>
            </a:r>
            <a:endParaRPr b="0" lang="de-D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540000" y="1152360"/>
            <a:ext cx="27234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{"a": "Schmidt, Andreas,"},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{"d": "1960-"},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{"e": "singer."},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itel 1"/>
          <p:cNvSpPr/>
          <p:nvPr/>
        </p:nvSpPr>
        <p:spPr>
          <a:xfrm>
            <a:off x="1379520" y="297000"/>
            <a:ext cx="899856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de-DE" sz="22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DejaVu Sans"/>
              </a:rPr>
              <a:t>Fallbeispiel: LLM abgelehnt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5040000" y="1015560"/>
            <a:ext cx="5064480" cy="150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720000" y="2630880"/>
            <a:ext cx="5035680" cy="337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3"/>
          <a:stretch/>
        </p:blipFill>
        <p:spPr>
          <a:xfrm>
            <a:off x="6300000" y="2659680"/>
            <a:ext cx="5064480" cy="334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"/>
          <p:cNvSpPr/>
          <p:nvPr/>
        </p:nvSpPr>
        <p:spPr>
          <a:xfrm>
            <a:off x="37440" y="6048000"/>
            <a:ext cx="1215216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"LLM: Kein Kandidat stimmt mit dem Geburtsjahr (1960) oder der Rolle (singer) überein. Keine ausreichende Evidenz für eine Übereinstimmung."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0" y="5620680"/>
            <a:ext cx="3420000" cy="31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Screenshots: DNB-Portal, GND-Daten unter CC0 1.0, abgerufen am 15.05.2026.</a:t>
            </a:r>
            <a:endParaRPr b="0" lang="de-D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694080" y="1149840"/>
            <a:ext cx="30834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{"a": "Rieger, Christian"},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{"c": "(Baritone),"},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{"e": "performer."},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itel 4"/>
          <p:cNvSpPr/>
          <p:nvPr/>
        </p:nvSpPr>
        <p:spPr>
          <a:xfrm>
            <a:off x="1379520" y="297000"/>
            <a:ext cx="899856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de-DE" sz="2200" strike="noStrike" u="none">
                <a:solidFill>
                  <a:schemeClr val="dk1"/>
                </a:solidFill>
                <a:effectLst/>
                <a:uFillTx/>
                <a:latin typeface="Meridien Roman"/>
                <a:ea typeface="DejaVu Sans"/>
              </a:rPr>
              <a:t>Fallbeispiel: LLM wählte zweiten Kandidaten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273960" y="2287080"/>
            <a:ext cx="5159520" cy="390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2"/>
          <a:stretch/>
        </p:blipFill>
        <p:spPr>
          <a:xfrm>
            <a:off x="5580000" y="1013400"/>
            <a:ext cx="7483680" cy="27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"/>
          <p:cNvSpPr txBox="1"/>
          <p:nvPr/>
        </p:nvSpPr>
        <p:spPr>
          <a:xfrm>
            <a:off x="5580000" y="3734640"/>
            <a:ext cx="3420000" cy="31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Screenshots: DNB-Portal, GND-Daten unter CC0 1.0, abgerufen am 15.05.2026.</a:t>
            </a:r>
            <a:endParaRPr b="0" lang="de-D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379520" y="296640"/>
            <a:ext cx="899856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200" strike="noStrike" u="none">
                <a:solidFill>
                  <a:schemeClr val="dk1"/>
                </a:solidFill>
                <a:effectLst/>
                <a:uFillTx/>
                <a:latin typeface="Meridien Roman"/>
              </a:rPr>
              <a:t>Fazit und Ausblick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20000" y="765000"/>
            <a:ext cx="10338840" cy="589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Fazit: Strategien für LLM-gestütztes Authority Linking 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Zu wenig Kontext: Scorer weist ab → keine LLM-Entscheidung → geringeres Halluzinationsrisiko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Eindeutiger Kontext + eindeutiger Score: regelbasierte Entscheidung → kein LLM nötig → weniger Kosten und Ressourcen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Grenzfälle mit ausreichend Kontext: LLM als Entscheidungsunterstützung → Kandidat wählen oder ablehnen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Evaluation ist zentral: Referenzdatensatz nötig, um Trefferquote, Fehlentscheidungen und Grenzfälle statistisch bewerten zu können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0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Ausblick</a:t>
            </a: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 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Scoring- und Grenzwert-Parameter optimieren 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mehr Kontextparameter in Regelprüfung (z. B. Geographika / Orte) 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Vergleich kleinerer/effizienter Modelle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Prompt-Optimierung: bessere Erkennung von Dubletten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379520" y="296640"/>
            <a:ext cx="899856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200" strike="noStrike" u="none">
                <a:solidFill>
                  <a:schemeClr val="dk1"/>
                </a:solidFill>
                <a:effectLst/>
                <a:uFillTx/>
                <a:latin typeface="Meridien Roman"/>
              </a:rPr>
              <a:t>Danke! Fragen?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900000" y="1440000"/>
            <a:ext cx="5718600" cy="251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15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Feedback und Kontakt: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Jan Smendek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Universitätsbibliothek Frankfurt am Main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FID Darstellende Kunst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http://performing-arts.eu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</a:rPr>
              <a:t>j.smendek@ub.uni-frankfurt.de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0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0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659200" y="5613120"/>
            <a:ext cx="6326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Meridien Roman"/>
                <a:ea typeface="DejaVu Sans"/>
              </a:rPr>
              <a:t>https://github.com/ubffm/authority-linker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6480000" y="1008000"/>
            <a:ext cx="4677480" cy="467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U-Design">
  <a:themeElements>
    <a:clrScheme name="UB FFM">
      <a:dk1>
        <a:srgbClr val="004f8f"/>
      </a:dk1>
      <a:lt1>
        <a:srgbClr val="ffffff"/>
      </a:lt1>
      <a:dk2>
        <a:srgbClr val="4d4b46"/>
      </a:dk2>
      <a:lt2>
        <a:srgbClr val="c8d4e2"/>
      </a:lt2>
      <a:accent1>
        <a:srgbClr val="d9d9d9"/>
      </a:accent1>
      <a:accent2>
        <a:srgbClr val="002a43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618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U-Design">
  <a:themeElements>
    <a:clrScheme name="UB FFM">
      <a:dk1>
        <a:srgbClr val="004f8f"/>
      </a:dk1>
      <a:lt1>
        <a:srgbClr val="ffffff"/>
      </a:lt1>
      <a:dk2>
        <a:srgbClr val="4d4b46"/>
      </a:dk2>
      <a:lt2>
        <a:srgbClr val="c8d4e2"/>
      </a:lt2>
      <a:accent1>
        <a:srgbClr val="d9d9d9"/>
      </a:accent1>
      <a:accent2>
        <a:srgbClr val="002a43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618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U-Design">
  <a:themeElements>
    <a:clrScheme name="UB FFM">
      <a:dk1>
        <a:srgbClr val="004f8f"/>
      </a:dk1>
      <a:lt1>
        <a:srgbClr val="ffffff"/>
      </a:lt1>
      <a:dk2>
        <a:srgbClr val="4d4b46"/>
      </a:dk2>
      <a:lt2>
        <a:srgbClr val="c8d4e2"/>
      </a:lt2>
      <a:accent1>
        <a:srgbClr val="d9d9d9"/>
      </a:accent1>
      <a:accent2>
        <a:srgbClr val="002a43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618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2026-05-12T09:09:32Z</dcterms:created>
  <dc:creator>Jan Smendek · Universitätsbibliothek Frankfurt am Main</dc:creator>
  <dc:description/>
  <dc:language>de-DE</dc:language>
  <cp:lastModifiedBy/>
  <cp:lastPrinted>2026-05-18T15:08:10Z</cp:lastPrinted>
  <dcterms:modified xsi:type="dcterms:W3CDTF">2026-05-22T09:38:54Z</dcterms:modified>
  <cp:revision>83</cp:revision>
  <dc:subject/>
  <dc:title>authority_linker – LLM-basierte Mapping-Strategien zwischen OCLC und GND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BiblioCon 2026</vt:lpwstr>
  </property>
</Properties>
</file>